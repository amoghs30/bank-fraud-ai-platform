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hyperlink" Target="https://arxiv.org/abs/2411.05815" TargetMode="External"/><Relationship Id="rId4" Type="http://schemas.openxmlformats.org/officeDocument/2006/relationships/hyperlink" Target="https://arxiv.org/abs/2402.14708" TargetMode="External"/><Relationship Id="rId5" Type="http://schemas.openxmlformats.org/officeDocument/2006/relationships/hyperlink" Target="https://arxiv.org/abs/2504.08183" TargetMode="External"/><Relationship Id="rId6" Type="http://schemas.openxmlformats.org/officeDocument/2006/relationships/hyperlink" Target="https://arxiv.org/abs/2503.22681" TargetMode="External"/><Relationship Id="rId7" Type="http://schemas.openxmlformats.org/officeDocument/2006/relationships/hyperlink" Target="https://arxiv.org/abs/2606.18444" TargetMode="External"/><Relationship Id="rId8" Type="http://schemas.openxmlformats.org/officeDocument/2006/relationships/hyperlink" Target="https://dl.acm.org/doi/full/10.1145/3704137.3704156" TargetMode="External"/><Relationship Id="rId9" Type="http://schemas.openxmlformats.org/officeDocument/2006/relationships/hyperlink" Target="https://laccei.org/LACCEI2024-CostaRica/papers/Contribution_1682_final_a.pdf" TargetMode="External"/><Relationship Id="rId10" Type="http://schemas.openxmlformats.org/officeDocument/2006/relationships/hyperlink" Target="https://link.springer.com/article/10.1007/s44163-025-00397-4" TargetMode="External"/><Relationship Id="rId11" Type="http://schemas.openxmlformats.org/officeDocument/2006/relationships/hyperlink" Target="https://link.springer.com/article/10.1007/s10791-026-10142-9" TargetMode="External"/><Relationship Id="rId12" Type="http://schemas.openxmlformats.org/officeDocument/2006/relationships/hyperlink" Target="https://arxiv.org/abs/2603.19314" TargetMode="External"/><Relationship Id="rId13" Type="http://schemas.openxmlformats.org/officeDocument/2006/relationships/hyperlink" Target="https://www.mdpi.com/1911-8074/18/4/179" TargetMode="External"/><Relationship Id="rId14" Type="http://schemas.openxmlformats.org/officeDocument/2006/relationships/hyperlink" Target="https://arxiv.org/abs/2505.10050" TargetMode="External"/><Relationship Id="rId15" Type="http://schemas.openxmlformats.org/officeDocument/2006/relationships/hyperlink" Target="https://www.sciencedirect.com/science/article/abs/pii/S1544612323006815" TargetMode="External"/><Relationship Id="rId16" Type="http://schemas.openxmlformats.org/officeDocument/2006/relationships/hyperlink" Target="https://arxiv.org/abs/2605.29427" TargetMode="Externa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685800" y="1785793"/>
            <a:ext cx="7772400" cy="3000398"/>
          </a:xfrm>
          <a:prstGeom prst="rect">
            <a:avLst/>
          </a:prstGeom>
        </p:spPr>
        <p:txBody>
          <a:bodyPr/>
          <a:lstStyle/>
          <a:p>
            <a:pPr>
              <a:defRPr sz="2700"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Mini Project First Review Presentation</a:t>
            </a:r>
          </a:p>
          <a:p>
            <a:pPr>
              <a:defRPr sz="2700"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on</a:t>
            </a:r>
          </a:p>
          <a:p>
            <a:pPr/>
          </a:p>
          <a:p>
            <a:pPr>
              <a:defRPr b="1" sz="27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AI-Powered Banking Fraud &amp; Compliance Intelligence Platform</a:t>
            </a:r>
          </a:p>
        </p:txBody>
      </p:sp>
      <p:grpSp>
        <p:nvGrpSpPr>
          <p:cNvPr id="97" name="Rectangle 3"/>
          <p:cNvGrpSpPr/>
          <p:nvPr/>
        </p:nvGrpSpPr>
        <p:grpSpPr>
          <a:xfrm>
            <a:off x="-1" y="-213701"/>
            <a:ext cx="9649966" cy="1600434"/>
            <a:chOff x="0" y="-1"/>
            <a:chExt cx="9649964" cy="1600433"/>
          </a:xfrm>
        </p:grpSpPr>
        <p:sp>
          <p:nvSpPr>
            <p:cNvPr id="95" name="Rectangle"/>
            <p:cNvSpPr/>
            <p:nvPr/>
          </p:nvSpPr>
          <p:spPr>
            <a:xfrm>
              <a:off x="0" y="-2"/>
              <a:ext cx="9144000" cy="1600435"/>
            </a:xfrm>
            <a:prstGeom prst="rect">
              <a:avLst/>
            </a:prstGeom>
            <a:solidFill>
              <a:srgbClr val="A9D3E3"/>
            </a:solidFill>
            <a:ln w="9525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6" name="SIDDAGANGA INSTITUTE OF TECHNOLOGY, TUMKUR…"/>
            <p:cNvSpPr txBox="1"/>
            <p:nvPr/>
          </p:nvSpPr>
          <p:spPr>
            <a:xfrm>
              <a:off x="606929" y="657324"/>
              <a:ext cx="9043036" cy="701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2000">
                  <a:latin typeface="Book Antiqua"/>
                  <a:ea typeface="Book Antiqua"/>
                  <a:cs typeface="Book Antiqua"/>
                  <a:sym typeface="Book Antiqua"/>
                </a:defRPr>
              </a:pPr>
              <a:r>
                <a:t>SIDDAGANGA INSTITUTE OF TECHNOLOGY, TUMKUR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b="1" sz="2000">
                  <a:latin typeface="Book Antiqua"/>
                  <a:ea typeface="Book Antiqua"/>
                  <a:cs typeface="Book Antiqua"/>
                  <a:sym typeface="Book Antiqua"/>
                </a:defRPr>
              </a:pPr>
              <a:r>
                <a:t>Department of Computer Science and Engineering</a:t>
              </a:r>
            </a:p>
          </p:txBody>
        </p:sp>
      </p:grpSp>
      <p:pic>
        <p:nvPicPr>
          <p:cNvPr id="9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511" y="56775"/>
            <a:ext cx="1344969" cy="1371601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Connector 6"/>
          <p:cNvSpPr/>
          <p:nvPr/>
        </p:nvSpPr>
        <p:spPr>
          <a:xfrm>
            <a:off x="533400" y="4800600"/>
            <a:ext cx="8153400" cy="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" name="TextBox 5"/>
          <p:cNvSpPr txBox="1"/>
          <p:nvPr/>
        </p:nvSpPr>
        <p:spPr>
          <a:xfrm>
            <a:off x="348764" y="5077164"/>
            <a:ext cx="4487386" cy="155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2000"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By</a:t>
            </a:r>
          </a:p>
          <a:p>
            <a:pPr>
              <a:defRPr sz="2000"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Saurav S  1SI23CI047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defRPr sz="2000"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Anikethan M 1SI23CI007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defRPr sz="2000"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Lekha HK  1SI23CS097</a:t>
            </a:r>
            <a:br>
              <a:rPr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Manish Anand 1SI24CS095</a:t>
            </a:r>
          </a:p>
        </p:txBody>
      </p:sp>
      <p:sp>
        <p:nvSpPr>
          <p:cNvPr id="101" name="TextBox 7"/>
          <p:cNvSpPr txBox="1"/>
          <p:nvPr/>
        </p:nvSpPr>
        <p:spPr>
          <a:xfrm>
            <a:off x="5300110" y="5185250"/>
            <a:ext cx="3652979" cy="1400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Under the guidance of</a:t>
            </a:r>
          </a:p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Gururaj S P</a:t>
            </a:r>
          </a:p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Assistant Professor</a:t>
            </a:r>
          </a:p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Dept. of CSE, SIT, Tumakuru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200"/>
            </a:lvl1pPr>
          </a:lstStyle>
          <a:p>
            <a:pPr/>
            <a:r>
              <a:t>INTRODUCTION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317824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Banks process hundreds of millions of transactions daily; hidden inside are fraudsters, money launderers and criminal networks — losses exceed $45 billion/year globally.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Most banks still rely on static, rule-based fraud detection, which is reactive, siloed and generates overwhelming false positives (95%+ of alerts).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project proposes a unified AI platform that links transactions, KYC, device and behavioural data into one knowledge graph, analysed by a network of collaborating AI agents.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Core idea: shift from asking “is this transaction suspicious?” to “does this entity's whole network and history fit a known criminal pattern?”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platform aims to detect fraud proactively, score risk in real time, and automate regulatory reporting — with every decision explainable to analysts and regulators.</a:t>
            </a:r>
          </a:p>
        </p:txBody>
      </p:sp>
      <p:pic>
        <p:nvPicPr>
          <p:cNvPr id="10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" y="6475491"/>
            <a:ext cx="375082" cy="382510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TextBox 4"/>
          <p:cNvSpPr txBox="1"/>
          <p:nvPr/>
        </p:nvSpPr>
        <p:spPr>
          <a:xfrm>
            <a:off x="548639" y="6492875"/>
            <a:ext cx="158841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Dept. of CSE, SIT, Tumkur</a:t>
            </a:r>
          </a:p>
        </p:txBody>
      </p:sp>
      <p:sp>
        <p:nvSpPr>
          <p:cNvPr id="107" name="TextBox 5"/>
          <p:cNvSpPr txBox="1"/>
          <p:nvPr/>
        </p:nvSpPr>
        <p:spPr>
          <a:xfrm>
            <a:off x="8772897" y="6475491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xfrm>
            <a:off x="349232" y="133449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b="1" sz="3200"/>
            </a:lvl1pPr>
          </a:lstStyle>
          <a:p>
            <a:pPr/>
            <a:r>
              <a:t>LITERATURE SURVEY — I: Graph AI for Fraud Detection</a:t>
            </a:r>
          </a:p>
        </p:txBody>
      </p:sp>
      <p:pic>
        <p:nvPicPr>
          <p:cNvPr id="11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" y="6475491"/>
            <a:ext cx="375082" cy="382510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TextBox 3"/>
          <p:cNvSpPr txBox="1"/>
          <p:nvPr/>
        </p:nvSpPr>
        <p:spPr>
          <a:xfrm>
            <a:off x="548639" y="6492875"/>
            <a:ext cx="158841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Dept. of CSE, SIT, Tumkur</a:t>
            </a:r>
          </a:p>
        </p:txBody>
      </p:sp>
      <p:sp>
        <p:nvSpPr>
          <p:cNvPr id="112" name="TextBox 4"/>
          <p:cNvSpPr txBox="1"/>
          <p:nvPr/>
        </p:nvSpPr>
        <p:spPr>
          <a:xfrm>
            <a:off x="8772897" y="6475491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2</a:t>
            </a:r>
          </a:p>
        </p:txBody>
      </p:sp>
      <p:graphicFrame>
        <p:nvGraphicFramePr>
          <p:cNvPr id="113" name="Table 5"/>
          <p:cNvGraphicFramePr/>
          <p:nvPr/>
        </p:nvGraphicFramePr>
        <p:xfrm>
          <a:off x="482032" y="1375461"/>
          <a:ext cx="8412481" cy="4572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737360"/>
                <a:gridCol w="640080"/>
                <a:gridCol w="3200400"/>
                <a:gridCol w="283464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Contribution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2411.05815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Graph Neural Networks for Financial Fraud Detection: A Review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Surveys GNN architectures applied across fraud domains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2402.14708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CaT-GNN: Causal Temporal GNNs for Credit Card Fraud Detection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Adds causal + temporal reasoning to graph-based detection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2504.08183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Detecting Credit Card Fraud via Heterogeneous GNNs with Graph Attention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Models users, merchants &amp; transactions as a heterogeneous graph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2503.22681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Harnessing GNNs for Enhanced Fraud Detection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Benchmarks GNN gains over traditional ML baselines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2606.18444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TMR-GGNN: Time-Aware Multi-Relational Guided GNN for Card Fraud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Combines temporal and multi-relational graph signals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200"/>
            </a:lvl1pPr>
          </a:lstStyle>
          <a:p>
            <a:pPr/>
            <a:r>
              <a:t>LITERATURE SURVEY — II: AML &amp; Money Laundering Detection</a:t>
            </a:r>
          </a:p>
        </p:txBody>
      </p:sp>
      <p:pic>
        <p:nvPicPr>
          <p:cNvPr id="11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" y="6475491"/>
            <a:ext cx="375082" cy="382510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Box 3"/>
          <p:cNvSpPr txBox="1"/>
          <p:nvPr/>
        </p:nvSpPr>
        <p:spPr>
          <a:xfrm>
            <a:off x="548639" y="6492875"/>
            <a:ext cx="158841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Dept. of CSE, SIT, Tumkur</a:t>
            </a:r>
          </a:p>
        </p:txBody>
      </p:sp>
      <p:sp>
        <p:nvSpPr>
          <p:cNvPr id="118" name="TextBox 4"/>
          <p:cNvSpPr txBox="1"/>
          <p:nvPr/>
        </p:nvSpPr>
        <p:spPr>
          <a:xfrm>
            <a:off x="8772897" y="6475491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3</a:t>
            </a:r>
          </a:p>
        </p:txBody>
      </p:sp>
      <p:graphicFrame>
        <p:nvGraphicFramePr>
          <p:cNvPr id="119" name="Table 5"/>
          <p:cNvGraphicFramePr/>
          <p:nvPr/>
        </p:nvGraphicFramePr>
        <p:xfrm>
          <a:off x="365759" y="1669256"/>
          <a:ext cx="8412482" cy="4572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737360"/>
                <a:gridCol w="640080"/>
                <a:gridCol w="3200400"/>
                <a:gridCol w="283464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Contribution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ACM ICAAI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Enhancing AML Protocols: ML to Minimise False Positives &amp; Improve Cost Efficiency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Reduces false-positive AML alerts using ML scoring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LACCEI 2024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Learning Models for Money Laundering Detection (Systematic Review)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Consolidates ML approaches used across AML literature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Discover AI (Springer)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Comparative Analysis of ML Algorithms for Money Laundering Detection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Benchmarks classifiers for suspicious-transaction detection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Discover Computing (Springer)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Leveraging AI for Enhanced Anti-Money Laundering in Financial Institutions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Reviews AI adoption patterns in bank AML programs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2603.19314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DPxFin: Adaptive Differential Privacy for AML via Federated Learning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Adds privacy-preserving federated training to AML detection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200"/>
            </a:lvl1pPr>
          </a:lstStyle>
          <a:p>
            <a:pPr/>
            <a:r>
              <a:t>LITERATURE SURVEY — III: Explainability &amp; LLM/RAG Compliance</a:t>
            </a:r>
          </a:p>
        </p:txBody>
      </p:sp>
      <p:pic>
        <p:nvPicPr>
          <p:cNvPr id="12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" y="6475491"/>
            <a:ext cx="375082" cy="382510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TextBox 3"/>
          <p:cNvSpPr txBox="1"/>
          <p:nvPr/>
        </p:nvSpPr>
        <p:spPr>
          <a:xfrm>
            <a:off x="548639" y="6492875"/>
            <a:ext cx="158841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Dept. of CSE, SIT, Tumkur</a:t>
            </a:r>
          </a:p>
        </p:txBody>
      </p:sp>
      <p:sp>
        <p:nvSpPr>
          <p:cNvPr id="124" name="TextBox 4"/>
          <p:cNvSpPr txBox="1"/>
          <p:nvPr/>
        </p:nvSpPr>
        <p:spPr>
          <a:xfrm>
            <a:off x="8772897" y="6475491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4</a:t>
            </a:r>
          </a:p>
        </p:txBody>
      </p:sp>
      <p:graphicFrame>
        <p:nvGraphicFramePr>
          <p:cNvPr id="125" name="Table 5"/>
          <p:cNvGraphicFramePr/>
          <p:nvPr/>
        </p:nvGraphicFramePr>
        <p:xfrm>
          <a:off x="365759" y="1524955"/>
          <a:ext cx="8412482" cy="4572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737360"/>
                <a:gridCol w="640080"/>
                <a:gridCol w="3200400"/>
                <a:gridCol w="283464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Contribution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MDPI 18(4):179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Secure &amp; Transparent Banking: XAI-Driven Federated Learning for Fraud Detection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Combines federated learning with SHAP/LIME explainability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2505.10050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Financial Fraud Detection Using Explainable AI and Stacking Ensembles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Ensemble model with human-readable SHAP explanations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ScienceDirect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User-Centered Explainable AI Approach for Financial Fraud Detection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Designs XAI explanations around analyst usability needs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2605.29427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FinGuard: Detecting Financial Regulatory Non-Compliance in LLM Interactions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LLMs to flag regulatory non-compliance in workflows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200"/>
            </a:lvl1pPr>
          </a:lstStyle>
          <a:p>
            <a:pPr/>
            <a:r>
              <a:t>LIMITATIONS OF THE EXISTING SYSTEM</a:t>
            </a:r>
          </a:p>
        </p:txBody>
      </p:sp>
      <p:sp>
        <p:nvSpPr>
          <p:cNvPr id="12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GNN-based fraud detection papers optimise a single detection model in isolation — not integrated into a full compliance/investigation pipeline.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AML machine-learning papers reduce false positives but largely still operate per-institution, without a shared knowledge graph across data sources.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Explainable-AI papers add interpretability (SHAP/LIME) to one model at a time, rather than across a multi-agent decision pipeline.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LLM/RAG compliance papers automate document analysis but are not integrated with real-time fraud or AML detection models.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Most reviewed systems are validated on public/synthetic datasets (e.g. Kaggle credit card data), not at real bank transaction scale.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Gap: no reviewed work unifies a cross-source knowledge graph, multi-agent collaboration, RAG-based compliance automation, and explainability in one deployable platform.</a:t>
            </a:r>
          </a:p>
        </p:txBody>
      </p:sp>
      <p:pic>
        <p:nvPicPr>
          <p:cNvPr id="12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" y="6475491"/>
            <a:ext cx="375082" cy="382510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TextBox 4"/>
          <p:cNvSpPr txBox="1"/>
          <p:nvPr/>
        </p:nvSpPr>
        <p:spPr>
          <a:xfrm>
            <a:off x="548639" y="6492875"/>
            <a:ext cx="158841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Dept. of CSE, SIT, Tumkur</a:t>
            </a:r>
          </a:p>
        </p:txBody>
      </p:sp>
      <p:sp>
        <p:nvSpPr>
          <p:cNvPr id="131" name="TextBox 5"/>
          <p:cNvSpPr txBox="1"/>
          <p:nvPr/>
        </p:nvSpPr>
        <p:spPr>
          <a:xfrm>
            <a:off x="8772897" y="6475491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200"/>
            </a:lvl1pPr>
          </a:lstStyle>
          <a:p>
            <a:pPr/>
            <a:r>
              <a:t>PROBLEM STATEMENT</a:t>
            </a:r>
          </a:p>
        </p:txBody>
      </p:sp>
      <p:sp>
        <p:nvSpPr>
          <p:cNvPr id="13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Most banks rely on rule-based fraud detection — manually written static rules.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Flaw 1 — Overwhelming false positives:</a:t>
            </a:r>
          </a:p>
          <a:p>
            <a:pPr lvl="1" marL="742950" indent="-285750">
              <a:spcBef>
                <a:spcPts val="400"/>
              </a:spcBef>
              <a:defRPr sz="17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95%+ of rule-based fraud alerts are false positives</a:t>
            </a:r>
            <a:endParaRPr sz="2800"/>
          </a:p>
          <a:p>
            <a:pPr lvl="1" marL="742950" indent="-285750">
              <a:spcBef>
                <a:spcPts val="400"/>
              </a:spcBef>
              <a:defRPr sz="17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Analysts spend 30–70 minutes investigating each alert; genuine customers get blocked</a:t>
            </a:r>
            <a:endParaRPr sz="2800"/>
          </a:p>
          <a:p>
            <a:pPr lvl="1" marL="742950" indent="-285750">
              <a:spcBef>
                <a:spcPts val="400"/>
              </a:spcBef>
              <a:defRPr sz="17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Banks spend ~$3.5 billion/year investigating false positives, while real fraud slips through</a:t>
            </a:r>
            <a:endParaRPr sz="2800"/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Flaw 2 — Purely reactive detection:</a:t>
            </a:r>
          </a:p>
          <a:p>
            <a:pPr lvl="1" marL="742950" indent="-285750">
              <a:spcBef>
                <a:spcPts val="400"/>
              </a:spcBef>
              <a:defRPr sz="17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Rules only catch fraud after money has already moved; no predictive capability</a:t>
            </a:r>
            <a:endParaRPr sz="2800"/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Flaw 3 — Completely siloed data:</a:t>
            </a:r>
          </a:p>
          <a:p>
            <a:pPr lvl="1" marL="742950" indent="-285750">
              <a:spcBef>
                <a:spcPts val="400"/>
              </a:spcBef>
              <a:defRPr sz="17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Transactions, KYC, device &amp; login data all sit in disconnected systems — nobody sees the whole picture, which is exactly where criminals hide</a:t>
            </a:r>
          </a:p>
        </p:txBody>
      </p:sp>
      <p:pic>
        <p:nvPicPr>
          <p:cNvPr id="13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" y="6475491"/>
            <a:ext cx="375082" cy="382510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TextBox 4"/>
          <p:cNvSpPr txBox="1"/>
          <p:nvPr/>
        </p:nvSpPr>
        <p:spPr>
          <a:xfrm>
            <a:off x="548639" y="6492875"/>
            <a:ext cx="158841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Dept. of CSE, SIT, Tumkur</a:t>
            </a:r>
          </a:p>
        </p:txBody>
      </p:sp>
      <p:sp>
        <p:nvSpPr>
          <p:cNvPr id="137" name="TextBox 5"/>
          <p:cNvSpPr txBox="1"/>
          <p:nvPr/>
        </p:nvSpPr>
        <p:spPr>
          <a:xfrm>
            <a:off x="8772897" y="6475491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200"/>
            </a:lvl1pPr>
          </a:lstStyle>
          <a:p>
            <a:pPr/>
            <a:r>
              <a:t>OBJECTIVES</a:t>
            </a:r>
          </a:p>
        </p:txBody>
      </p:sp>
      <p:sp>
        <p:nvSpPr>
          <p:cNvPr id="14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b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Build a unified knowledge graph that links transaction, KYC and behavioural data for a chosen set of accounts.</a:t>
            </a:r>
          </a:p>
          <a:p>
            <a:pPr>
              <a:spcBef>
                <a:spcPts val="500"/>
              </a:spcBef>
              <a:defRPr b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Implement an AI-based transaction risk-scoring model (GNN/anomaly-detection driven) that flags suspicious transactions in real time.</a:t>
            </a:r>
          </a:p>
          <a:p>
            <a:pPr>
              <a:spcBef>
                <a:spcPts val="500"/>
              </a:spcBef>
              <a:defRPr b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Automate generation of a compliant SAR draft from flagged cases using a RAG-grounded LLM.</a:t>
            </a:r>
          </a:p>
        </p:txBody>
      </p:sp>
      <p:pic>
        <p:nvPicPr>
          <p:cNvPr id="14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" y="6475491"/>
            <a:ext cx="375082" cy="382510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TextBox 4"/>
          <p:cNvSpPr txBox="1"/>
          <p:nvPr/>
        </p:nvSpPr>
        <p:spPr>
          <a:xfrm>
            <a:off x="548639" y="6492875"/>
            <a:ext cx="158841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Dept. of CSE, SIT, Tumkur</a:t>
            </a:r>
          </a:p>
        </p:txBody>
      </p:sp>
      <p:sp>
        <p:nvSpPr>
          <p:cNvPr id="143" name="TextBox 5"/>
          <p:cNvSpPr txBox="1"/>
          <p:nvPr/>
        </p:nvSpPr>
        <p:spPr>
          <a:xfrm>
            <a:off x="8772897" y="6475491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 1"/>
          <p:cNvSpPr txBox="1"/>
          <p:nvPr>
            <p:ph type="title"/>
          </p:nvPr>
        </p:nvSpPr>
        <p:spPr>
          <a:xfrm>
            <a:off x="274486" y="-215368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b="1" sz="3200"/>
            </a:lvl1pPr>
          </a:lstStyle>
          <a:p>
            <a:pPr/>
            <a:r>
              <a:t>SYSTEM ARCHITECTURE </a:t>
            </a:r>
          </a:p>
        </p:txBody>
      </p:sp>
      <p:pic>
        <p:nvPicPr>
          <p:cNvPr id="14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" y="6475491"/>
            <a:ext cx="375082" cy="382510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TextBox 3"/>
          <p:cNvSpPr txBox="1"/>
          <p:nvPr/>
        </p:nvSpPr>
        <p:spPr>
          <a:xfrm>
            <a:off x="606776" y="6588313"/>
            <a:ext cx="1588418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Dept. of CSE, SIT, Tumkur</a:t>
            </a:r>
          </a:p>
        </p:txBody>
      </p:sp>
      <p:sp>
        <p:nvSpPr>
          <p:cNvPr id="148" name="TextBox 4"/>
          <p:cNvSpPr txBox="1"/>
          <p:nvPr/>
        </p:nvSpPr>
        <p:spPr>
          <a:xfrm>
            <a:off x="8772897" y="6475491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8</a:t>
            </a:r>
          </a:p>
        </p:txBody>
      </p:sp>
      <p:pic>
        <p:nvPicPr>
          <p:cNvPr id="149" name="system_architecture.png" descr="system_architectur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7644" y="489743"/>
            <a:ext cx="6853472" cy="61276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le 1"/>
          <p:cNvSpPr txBox="1"/>
          <p:nvPr>
            <p:ph type="title"/>
          </p:nvPr>
        </p:nvSpPr>
        <p:spPr>
          <a:xfrm>
            <a:off x="457200" y="-132316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b="1" sz="3200"/>
            </a:lvl1pPr>
          </a:lstStyle>
          <a:p>
            <a:pPr/>
            <a:r>
              <a:t>END-TO-END FLOW DIAGRAM</a:t>
            </a:r>
          </a:p>
        </p:txBody>
      </p:sp>
      <p:pic>
        <p:nvPicPr>
          <p:cNvPr id="15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" y="6475491"/>
            <a:ext cx="375082" cy="382510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TextBox 3"/>
          <p:cNvSpPr txBox="1"/>
          <p:nvPr/>
        </p:nvSpPr>
        <p:spPr>
          <a:xfrm>
            <a:off x="548639" y="6492875"/>
            <a:ext cx="158841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Dept. of CSE, SIT, Tumkur</a:t>
            </a:r>
          </a:p>
        </p:txBody>
      </p:sp>
      <p:sp>
        <p:nvSpPr>
          <p:cNvPr id="154" name="TextBox 4"/>
          <p:cNvSpPr txBox="1"/>
          <p:nvPr/>
        </p:nvSpPr>
        <p:spPr>
          <a:xfrm>
            <a:off x="8772897" y="6475491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9</a:t>
            </a:r>
          </a:p>
        </p:txBody>
      </p:sp>
      <p:pic>
        <p:nvPicPr>
          <p:cNvPr id="155" name="end_to_end_flow.png" descr="end_to_end_flow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38703" y="809921"/>
            <a:ext cx="6591300" cy="57216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200"/>
            </a:lvl1pPr>
          </a:lstStyle>
          <a:p>
            <a:pPr/>
            <a:r>
              <a:t>APPLICATIONS</a:t>
            </a:r>
          </a:p>
        </p:txBody>
      </p:sp>
      <p:sp>
        <p:nvSpPr>
          <p:cNvPr id="15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Real-time transaction monitoring dashboards for bank fraud/AML analyst teams.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Fraud-ring and money-mule network detection across retail banking and cross-border payments.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Automated SAR/CTR drafting to speed up regulatory compliance teams' reporting workload.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Customer-facing risk protection — reducing wrongful card blocks/false declines for genuine customers.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Extensible to corporate/trade finance and card-network fraud wherever transaction + identity data exists.</a:t>
            </a:r>
          </a:p>
        </p:txBody>
      </p:sp>
      <p:pic>
        <p:nvPicPr>
          <p:cNvPr id="15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" y="6475491"/>
            <a:ext cx="375082" cy="382510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TextBox 4"/>
          <p:cNvSpPr txBox="1"/>
          <p:nvPr/>
        </p:nvSpPr>
        <p:spPr>
          <a:xfrm>
            <a:off x="548639" y="6492875"/>
            <a:ext cx="158841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Dept. of CSE, SIT, Tumkur</a:t>
            </a:r>
          </a:p>
        </p:txBody>
      </p:sp>
      <p:sp>
        <p:nvSpPr>
          <p:cNvPr id="161" name="TextBox 5"/>
          <p:cNvSpPr txBox="1"/>
          <p:nvPr/>
        </p:nvSpPr>
        <p:spPr>
          <a:xfrm>
            <a:off x="8695656" y="6475491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200"/>
            </a:lvl1pPr>
          </a:lstStyle>
          <a:p>
            <a:pPr/>
            <a:r>
              <a:t>REQUIREMENTS</a:t>
            </a:r>
          </a:p>
        </p:txBody>
      </p:sp>
      <p:pic>
        <p:nvPicPr>
          <p:cNvPr id="16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" y="6475491"/>
            <a:ext cx="375082" cy="382510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TextBox 3"/>
          <p:cNvSpPr txBox="1"/>
          <p:nvPr/>
        </p:nvSpPr>
        <p:spPr>
          <a:xfrm>
            <a:off x="548639" y="6492875"/>
            <a:ext cx="158841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Dept. of CSE, SIT, Tumkur</a:t>
            </a:r>
          </a:p>
        </p:txBody>
      </p:sp>
      <p:sp>
        <p:nvSpPr>
          <p:cNvPr id="166" name="TextBox 4"/>
          <p:cNvSpPr txBox="1"/>
          <p:nvPr/>
        </p:nvSpPr>
        <p:spPr>
          <a:xfrm>
            <a:off x="8695656" y="6475491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67" name="TextBox 5"/>
          <p:cNvSpPr txBox="1"/>
          <p:nvPr/>
        </p:nvSpPr>
        <p:spPr>
          <a:xfrm>
            <a:off x="502919" y="1051560"/>
            <a:ext cx="2258181" cy="311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Hardware Requirements</a:t>
            </a:r>
          </a:p>
        </p:txBody>
      </p:sp>
      <p:sp>
        <p:nvSpPr>
          <p:cNvPr id="168" name="TextBox 6"/>
          <p:cNvSpPr txBox="1"/>
          <p:nvPr/>
        </p:nvSpPr>
        <p:spPr>
          <a:xfrm>
            <a:off x="502919" y="1463039"/>
            <a:ext cx="3840481" cy="1709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Development workstation: min. 16 GB RAM, quad-core CPU, 256 GB SSD</a:t>
            </a:r>
          </a:p>
          <a:p>
            <a:pPr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Cloud GPU instance (e.g. NVIDIA T4/A100) for GNN model training</a:t>
            </a:r>
          </a:p>
          <a:p>
            <a:pPr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Multi-core server for real-time transaction stream processing</a:t>
            </a:r>
          </a:p>
          <a:p>
            <a:pPr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Reliable high-bandwidth network for streaming transaction data</a:t>
            </a:r>
          </a:p>
        </p:txBody>
      </p:sp>
      <p:sp>
        <p:nvSpPr>
          <p:cNvPr id="169" name="TextBox 7"/>
          <p:cNvSpPr txBox="1"/>
          <p:nvPr/>
        </p:nvSpPr>
        <p:spPr>
          <a:xfrm>
            <a:off x="4709160" y="1051560"/>
            <a:ext cx="2145269" cy="311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Software Requirements</a:t>
            </a:r>
          </a:p>
        </p:txBody>
      </p:sp>
      <p:sp>
        <p:nvSpPr>
          <p:cNvPr id="170" name="TextBox 8"/>
          <p:cNvSpPr txBox="1"/>
          <p:nvPr/>
        </p:nvSpPr>
        <p:spPr>
          <a:xfrm>
            <a:off x="4709160" y="1463039"/>
            <a:ext cx="3840481" cy="2319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Neo4j / Amazon Neptune — knowledge graph database</a:t>
            </a:r>
          </a:p>
          <a:p>
            <a:pPr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PyTorch Geometric / DGL — GNN model development</a:t>
            </a:r>
          </a:p>
          <a:p>
            <a:pPr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Apache Kafka — real-time transaction streaming</a:t>
            </a:r>
          </a:p>
          <a:p>
            <a:pPr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LangChain + Pinecone/Weaviate — RAG pipeline</a:t>
            </a:r>
          </a:p>
          <a:p>
            <a:pPr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Claude (Anthropic API) — LLM core for SAR generation</a:t>
            </a:r>
          </a:p>
          <a:p>
            <a:pPr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LightGBM / XGBoost — fast risk-scoring models</a:t>
            </a:r>
          </a:p>
          <a:p>
            <a:pPr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Python (FastAPI) backend, React + D3.js frontend</a:t>
            </a:r>
          </a:p>
          <a:p>
            <a:pPr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Docker + Kubernetes — containerised deployment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200"/>
            </a:lvl1pPr>
          </a:lstStyle>
          <a:p>
            <a:pPr/>
            <a:r>
              <a:t>PROJECT EXECUTION PLAN — TIMELINE</a:t>
            </a:r>
          </a:p>
        </p:txBody>
      </p:sp>
      <p:pic>
        <p:nvPicPr>
          <p:cNvPr id="17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" y="6475491"/>
            <a:ext cx="375082" cy="382510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TextBox 3"/>
          <p:cNvSpPr txBox="1"/>
          <p:nvPr/>
        </p:nvSpPr>
        <p:spPr>
          <a:xfrm>
            <a:off x="548639" y="6492875"/>
            <a:ext cx="158841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Dept. of CSE, SIT, Tumkur</a:t>
            </a:r>
          </a:p>
        </p:txBody>
      </p:sp>
      <p:sp>
        <p:nvSpPr>
          <p:cNvPr id="175" name="TextBox 4"/>
          <p:cNvSpPr txBox="1"/>
          <p:nvPr/>
        </p:nvSpPr>
        <p:spPr>
          <a:xfrm>
            <a:off x="8695656" y="6475491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12</a:t>
            </a:r>
          </a:p>
        </p:txBody>
      </p:sp>
      <p:graphicFrame>
        <p:nvGraphicFramePr>
          <p:cNvPr id="176" name="Table 5"/>
          <p:cNvGraphicFramePr/>
          <p:nvPr/>
        </p:nvGraphicFramePr>
        <p:xfrm>
          <a:off x="523558" y="1300715"/>
          <a:ext cx="8412481" cy="4572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377440"/>
                <a:gridCol w="1188720"/>
                <a:gridCol w="484632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Activities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chemeClr val="accent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 Requirement Analysis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1–2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Literature review, dataset identification, requirement finalisation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 Data Pipeline &amp; Graph Design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3–4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Knowledge graph schema design; data ingestion pipeline setup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 Model Development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5–6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Build fraud detection (GNN) &amp; transaction risk-scoring models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 AML &amp; Profiling Agents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Build AML intelligence agent and customer risk profiler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 Compliance Assistant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Build RAG + LLM pipeline for automated SAR drafting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 Dashboard &amp; Integration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Build dashboard, integrate agents, end-to-end testing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 Final Testing &amp; Demo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10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Validation, documentation, and demo preparation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200"/>
            </a:lvl1pPr>
          </a:lstStyle>
          <a:p>
            <a:pPr/>
            <a:r>
              <a:t>CONCLUSION</a:t>
            </a:r>
          </a:p>
        </p:txBody>
      </p:sp>
      <p:sp>
        <p:nvSpPr>
          <p:cNvPr id="17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Rule-based fraud/AML systems are reactive, siloed and drown analysts in false positives (95%+ of alerts, $3.5B/year wasted).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project proposes a platform that unifies bank data into one knowledge graph, analysed by collaborating, explainable AI agents.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Expected outcome: proactive fraud detection, fewer false positives, automated SAR drafting, and decisions regulators &amp; analysts can understand.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literature survey confirms no existing work combines graph AI, multi-agent collaboration, RAG-based compliance and explainability in one system — this is the project's contribution.</a:t>
            </a:r>
          </a:p>
          <a:p>
            <a:pPr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Next steps: build and validate the three core objectives (knowledge graph, risk-scoring model, SAR automation) on simulated fraud scenarios.</a:t>
            </a:r>
          </a:p>
        </p:txBody>
      </p:sp>
      <p:pic>
        <p:nvPicPr>
          <p:cNvPr id="18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" y="6475491"/>
            <a:ext cx="375082" cy="382510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TextBox 4"/>
          <p:cNvSpPr txBox="1"/>
          <p:nvPr/>
        </p:nvSpPr>
        <p:spPr>
          <a:xfrm>
            <a:off x="548639" y="6492875"/>
            <a:ext cx="158841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Dept. of CSE, SIT, Tumkur</a:t>
            </a:r>
          </a:p>
        </p:txBody>
      </p:sp>
      <p:sp>
        <p:nvSpPr>
          <p:cNvPr id="182" name="TextBox 5"/>
          <p:cNvSpPr txBox="1"/>
          <p:nvPr/>
        </p:nvSpPr>
        <p:spPr>
          <a:xfrm>
            <a:off x="8695656" y="6475491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200"/>
            </a:lvl1pPr>
          </a:lstStyle>
          <a:p>
            <a:pPr/>
            <a:r>
              <a:t>REFERENCES</a:t>
            </a:r>
          </a:p>
        </p:txBody>
      </p:sp>
      <p:pic>
        <p:nvPicPr>
          <p:cNvPr id="18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" y="6475491"/>
            <a:ext cx="375082" cy="382510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TextBox 3"/>
          <p:cNvSpPr txBox="1"/>
          <p:nvPr/>
        </p:nvSpPr>
        <p:spPr>
          <a:xfrm>
            <a:off x="548639" y="6492875"/>
            <a:ext cx="158841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Dept. of CSE, SIT, Tumkur</a:t>
            </a:r>
          </a:p>
        </p:txBody>
      </p:sp>
      <p:sp>
        <p:nvSpPr>
          <p:cNvPr id="187" name="TextBox 4"/>
          <p:cNvSpPr txBox="1"/>
          <p:nvPr/>
        </p:nvSpPr>
        <p:spPr>
          <a:xfrm>
            <a:off x="8695656" y="6475491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188" name="TextBox 5"/>
          <p:cNvSpPr txBox="1"/>
          <p:nvPr/>
        </p:nvSpPr>
        <p:spPr>
          <a:xfrm>
            <a:off x="415590" y="1562287"/>
            <a:ext cx="4023361" cy="2828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800"/>
              </a:spcBef>
              <a:defRPr sz="1100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[1] Graph Neural Networks for Financial Fraud Detection: A Review, arXiv 2411.05815, 2024.</a:t>
            </a:r>
          </a:p>
          <a:p>
            <a:pPr>
              <a:spcBef>
                <a:spcPts val="800"/>
              </a:spcBef>
              <a:defRPr sz="1100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[2] CaT-GNN: Causal Temporal GNNs for Credit Card Fraud Detection, arXiv 2402.14708, 2024.</a:t>
            </a:r>
          </a:p>
          <a:p>
            <a:pPr>
              <a:spcBef>
                <a:spcPts val="800"/>
              </a:spcBef>
              <a:defRPr sz="1100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 invalidUrl="" action="" tgtFrame="" tooltip="" history="1" highlightClick="0" endSnd="0"/>
              </a:rPr>
              <a:t>[3] Detecting Credit Card Fraud via Heterogeneous GNNs with Graph Attention, arXiv 2504.08183, 2025.</a:t>
            </a:r>
          </a:p>
          <a:p>
            <a:pPr>
              <a:spcBef>
                <a:spcPts val="800"/>
              </a:spcBef>
              <a:defRPr sz="1100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 invalidUrl="" action="" tgtFrame="" tooltip="" history="1" highlightClick="0" endSnd="0"/>
              </a:rPr>
              <a:t>[4] Harnessing GNNs for Enhanced Fraud Detection, arXiv 2503.22681, 2025.</a:t>
            </a:r>
          </a:p>
          <a:p>
            <a:pPr>
              <a:spcBef>
                <a:spcPts val="800"/>
              </a:spcBef>
              <a:defRPr sz="1100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7" invalidUrl="" action="" tgtFrame="" tooltip="" history="1" highlightClick="0" endSnd="0"/>
              </a:rPr>
              <a:t>[5] TMR-GGNN: Time-Aware Multi-Relational Guided GNN for Card Fraud, arXiv 2606.18444, 2026.</a:t>
            </a:r>
          </a:p>
          <a:p>
            <a:pPr>
              <a:spcBef>
                <a:spcPts val="800"/>
              </a:spcBef>
              <a:defRPr sz="1100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8" invalidUrl="" action="" tgtFrame="" tooltip="" history="1" highlightClick="0" endSnd="0"/>
              </a:rPr>
              <a:t>[6] Enhancing AML Protocols: ML to Minimise False Positives, ACM ICAAI, 2024.</a:t>
            </a:r>
          </a:p>
          <a:p>
            <a:pPr>
              <a:spcBef>
                <a:spcPts val="800"/>
              </a:spcBef>
              <a:defRPr sz="1100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9" invalidUrl="" action="" tgtFrame="" tooltip="" history="1" highlightClick="0" endSnd="0"/>
              </a:rPr>
              <a:t>[7] Machine Learning Models for Money Laundering Detection (Review), LACCEI, 2024.</a:t>
            </a:r>
          </a:p>
        </p:txBody>
      </p:sp>
      <p:sp>
        <p:nvSpPr>
          <p:cNvPr id="189" name="TextBox 6"/>
          <p:cNvSpPr txBox="1"/>
          <p:nvPr/>
        </p:nvSpPr>
        <p:spPr>
          <a:xfrm>
            <a:off x="4605220" y="1562287"/>
            <a:ext cx="4023362" cy="2828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800"/>
              </a:spcBef>
              <a:defRPr sz="1100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0" invalidUrl="" action="" tgtFrame="" tooltip="" history="1" highlightClick="0" endSnd="0"/>
              </a:rPr>
              <a:t>[8] Comparative Analysis of ML Algorithms for Money Laundering Detection, Discover AI (Springer), 2025.</a:t>
            </a:r>
          </a:p>
          <a:p>
            <a:pPr>
              <a:spcBef>
                <a:spcPts val="800"/>
              </a:spcBef>
              <a:defRPr sz="1100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1" invalidUrl="" action="" tgtFrame="" tooltip="" history="1" highlightClick="0" endSnd="0"/>
              </a:rPr>
              <a:t>[9] Leveraging AI for Enhanced Anti-Money Laundering in Financial Institutions, Discover Computing, 2026.</a:t>
            </a:r>
          </a:p>
          <a:p>
            <a:pPr>
              <a:spcBef>
                <a:spcPts val="800"/>
              </a:spcBef>
              <a:defRPr sz="1100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2" invalidUrl="" action="" tgtFrame="" tooltip="" history="1" highlightClick="0" endSnd="0"/>
              </a:rPr>
              <a:t>[10] DPxFin: Adaptive Differential Privacy for AML via Federated Learning, arXiv 2603.19314, 2026.</a:t>
            </a:r>
          </a:p>
          <a:p>
            <a:pPr>
              <a:spcBef>
                <a:spcPts val="800"/>
              </a:spcBef>
              <a:defRPr sz="1100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3" invalidUrl="" action="" tgtFrame="" tooltip="" history="1" highlightClick="0" endSnd="0"/>
              </a:rPr>
              <a:t>[11] Secure &amp; Transparent Banking: XAI-Driven Federated Learning for Fraud Detection, MDPI 18(4):179, 2025.</a:t>
            </a:r>
          </a:p>
          <a:p>
            <a:pPr>
              <a:spcBef>
                <a:spcPts val="800"/>
              </a:spcBef>
              <a:defRPr sz="1100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4" invalidUrl="" action="" tgtFrame="" tooltip="" history="1" highlightClick="0" endSnd="0"/>
              </a:rPr>
              <a:t>[12] Financial Fraud Detection Using Explainable AI and Stacking Ensembles, arXiv 2505.10050, 2025.</a:t>
            </a:r>
          </a:p>
          <a:p>
            <a:pPr>
              <a:spcBef>
                <a:spcPts val="800"/>
              </a:spcBef>
              <a:defRPr sz="1100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5" invalidUrl="" action="" tgtFrame="" tooltip="" history="1" highlightClick="0" endSnd="0"/>
              </a:rPr>
              <a:t>[13] A User-Centered Explainable AI Approach for Financial Fraud Detection, ScienceDirect, 2024.</a:t>
            </a:r>
          </a:p>
          <a:p>
            <a:pPr>
              <a:spcBef>
                <a:spcPts val="800"/>
              </a:spcBef>
              <a:defRPr sz="1100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6" invalidUrl="" action="" tgtFrame="" tooltip="" history="1" highlightClick="0" endSnd="0"/>
              </a:rPr>
              <a:t>[14] FinGuard: Detecting Financial Regulatory Non-Compliance in LLM Interactions, arXiv 2605.29427, 2026.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itle 1"/>
          <p:cNvSpPr txBox="1"/>
          <p:nvPr>
            <p:ph type="title"/>
          </p:nvPr>
        </p:nvSpPr>
        <p:spPr>
          <a:xfrm>
            <a:off x="457200" y="2774496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Thank You!</a:t>
            </a:r>
          </a:p>
        </p:txBody>
      </p:sp>
      <p:sp>
        <p:nvSpPr>
          <p:cNvPr id="192" name="TextBox 5"/>
          <p:cNvSpPr txBox="1"/>
          <p:nvPr/>
        </p:nvSpPr>
        <p:spPr>
          <a:xfrm>
            <a:off x="8695656" y="6475491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1F497D"/>
                </a:solidFill>
              </a:defRPr>
            </a:lvl1pPr>
          </a:lstStyle>
          <a:p>
            <a:pPr/>
            <a:r>
              <a:t>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